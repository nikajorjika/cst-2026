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Barlow ExtraLight"/>
      <p:regular r:id="rId27"/>
      <p:bold r:id="rId28"/>
      <p:italic r:id="rId29"/>
      <p:boldItalic r:id="rId30"/>
    </p:embeddedFont>
    <p:embeddedFont>
      <p:font typeface="Hepta Slab Medium"/>
      <p:regular r:id="rId31"/>
      <p:bold r:id="rId32"/>
    </p:embeddedFont>
    <p:embeddedFont>
      <p:font typeface="Hepta Slab Light"/>
      <p:regular r:id="rId33"/>
      <p:bold r:id="rId34"/>
    </p:embeddedFont>
    <p:embeddedFont>
      <p:font typeface="Hepta Slab"/>
      <p:regular r:id="rId35"/>
      <p:bold r:id="rId36"/>
    </p:embeddedFont>
    <p:embeddedFont>
      <p:font typeface="Barlow Medium"/>
      <p:regular r:id="rId37"/>
      <p:bold r:id="rId38"/>
      <p:italic r:id="rId39"/>
      <p:boldItalic r:id="rId40"/>
    </p:embeddedFont>
    <p:embeddedFont>
      <p:font typeface="Barlow Light"/>
      <p:regular r:id="rId41"/>
      <p:bold r:id="rId42"/>
      <p:italic r:id="rId43"/>
      <p:boldItalic r:id="rId44"/>
    </p:embeddedFont>
    <p:embeddedFont>
      <p:font typeface="Barlow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">
          <p15:clr>
            <a:srgbClr val="747775"/>
          </p15:clr>
        </p15:guide>
        <p15:guide id="2" pos="5472">
          <p15:clr>
            <a:srgbClr val="747775"/>
          </p15:clr>
        </p15:guide>
        <p15:guide id="3" orient="horz" pos="662">
          <p15:clr>
            <a:srgbClr val="747775"/>
          </p15:clr>
        </p15:guide>
        <p15:guide id="4" orient="horz" pos="2714">
          <p15:clr>
            <a:srgbClr val="747775"/>
          </p15:clr>
        </p15:guide>
        <p15:guide id="5" orient="horz" pos="8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BDF0C9-F4E7-4DCB-8911-530FE136E97B}">
  <a:tblStyle styleId="{CABDF0C9-F4E7-4DCB-8911-530FE136E9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"/>
        <p:guide pos="5472"/>
        <p:guide pos="662" orient="horz"/>
        <p:guide pos="2714" orient="horz"/>
        <p:guide pos="82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Medium-boldItalic.fntdata"/><Relationship Id="rId20" Type="http://schemas.openxmlformats.org/officeDocument/2006/relationships/slide" Target="slides/slide13.xml"/><Relationship Id="rId42" Type="http://schemas.openxmlformats.org/officeDocument/2006/relationships/font" Target="fonts/BarlowLight-bold.fntdata"/><Relationship Id="rId41" Type="http://schemas.openxmlformats.org/officeDocument/2006/relationships/font" Target="fonts/BarlowLight-regular.fntdata"/><Relationship Id="rId22" Type="http://schemas.openxmlformats.org/officeDocument/2006/relationships/slide" Target="slides/slide15.xml"/><Relationship Id="rId44" Type="http://schemas.openxmlformats.org/officeDocument/2006/relationships/font" Target="fonts/BarlowLight-boldItalic.fntdata"/><Relationship Id="rId21" Type="http://schemas.openxmlformats.org/officeDocument/2006/relationships/slide" Target="slides/slide14.xml"/><Relationship Id="rId43" Type="http://schemas.openxmlformats.org/officeDocument/2006/relationships/font" Target="fonts/BarlowLight-italic.fntdata"/><Relationship Id="rId24" Type="http://schemas.openxmlformats.org/officeDocument/2006/relationships/slide" Target="slides/slide17.xml"/><Relationship Id="rId46" Type="http://schemas.openxmlformats.org/officeDocument/2006/relationships/font" Target="fonts/Barlow-bold.fntdata"/><Relationship Id="rId23" Type="http://schemas.openxmlformats.org/officeDocument/2006/relationships/slide" Target="slides/slide16.xml"/><Relationship Id="rId45" Type="http://schemas.openxmlformats.org/officeDocument/2006/relationships/font" Target="fonts/Barlow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48" Type="http://schemas.openxmlformats.org/officeDocument/2006/relationships/font" Target="fonts/Barlow-boldItalic.fntdata"/><Relationship Id="rId25" Type="http://schemas.openxmlformats.org/officeDocument/2006/relationships/slide" Target="slides/slide18.xml"/><Relationship Id="rId47" Type="http://schemas.openxmlformats.org/officeDocument/2006/relationships/font" Target="fonts/Barlow-italic.fntdata"/><Relationship Id="rId28" Type="http://schemas.openxmlformats.org/officeDocument/2006/relationships/font" Target="fonts/BarlowExtraLight-bold.fntdata"/><Relationship Id="rId27" Type="http://schemas.openxmlformats.org/officeDocument/2006/relationships/font" Target="fonts/BarlowExtraLight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BarlowExtraLight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HeptaSlabMedium-regular.fntdata"/><Relationship Id="rId30" Type="http://schemas.openxmlformats.org/officeDocument/2006/relationships/font" Target="fonts/BarlowExtraLight-boldItalic.fntdata"/><Relationship Id="rId11" Type="http://schemas.openxmlformats.org/officeDocument/2006/relationships/slide" Target="slides/slide4.xml"/><Relationship Id="rId33" Type="http://schemas.openxmlformats.org/officeDocument/2006/relationships/font" Target="fonts/HeptaSlabLight-regular.fntdata"/><Relationship Id="rId10" Type="http://schemas.openxmlformats.org/officeDocument/2006/relationships/slide" Target="slides/slide3.xml"/><Relationship Id="rId32" Type="http://schemas.openxmlformats.org/officeDocument/2006/relationships/font" Target="fonts/HeptaSlabMedium-bold.fntdata"/><Relationship Id="rId13" Type="http://schemas.openxmlformats.org/officeDocument/2006/relationships/slide" Target="slides/slide6.xml"/><Relationship Id="rId35" Type="http://schemas.openxmlformats.org/officeDocument/2006/relationships/font" Target="fonts/HeptaSlab-regular.fntdata"/><Relationship Id="rId12" Type="http://schemas.openxmlformats.org/officeDocument/2006/relationships/slide" Target="slides/slide5.xml"/><Relationship Id="rId34" Type="http://schemas.openxmlformats.org/officeDocument/2006/relationships/font" Target="fonts/HeptaSlabLight-bold.fntdata"/><Relationship Id="rId15" Type="http://schemas.openxmlformats.org/officeDocument/2006/relationships/slide" Target="slides/slide8.xml"/><Relationship Id="rId37" Type="http://schemas.openxmlformats.org/officeDocument/2006/relationships/font" Target="fonts/BarlowMedium-regular.fntdata"/><Relationship Id="rId14" Type="http://schemas.openxmlformats.org/officeDocument/2006/relationships/slide" Target="slides/slide7.xml"/><Relationship Id="rId36" Type="http://schemas.openxmlformats.org/officeDocument/2006/relationships/font" Target="fonts/HeptaSlab-bold.fntdata"/><Relationship Id="rId17" Type="http://schemas.openxmlformats.org/officeDocument/2006/relationships/slide" Target="slides/slide10.xml"/><Relationship Id="rId39" Type="http://schemas.openxmlformats.org/officeDocument/2006/relationships/font" Target="fonts/BarlowMedium-italic.fntdata"/><Relationship Id="rId16" Type="http://schemas.openxmlformats.org/officeDocument/2006/relationships/slide" Target="slides/slide9.xml"/><Relationship Id="rId38" Type="http://schemas.openxmlformats.org/officeDocument/2006/relationships/font" Target="fonts/BarlowMedium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87594d8fb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c87594d8fb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87594d8fb_1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c87594d8fb_1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4020dc0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94020dc0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4020dc06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94020dc06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94020dc06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94020dc06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4020dc06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94020dc06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94020dc06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94020dc06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c97fa2876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c97fa2876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97fa2876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c97fa2876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94020dc06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94020dc06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94020dc06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94020dc06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c97fa2876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c97fa2876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c97fa2876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c97fa2876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97fa2876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c97fa2876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c97fa2876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c97fa2876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c97fa2876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c97fa2876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97fa2876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c97fa2876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c97fa2876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c97fa2876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94249243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94249243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7" name="Google Shape;187;p37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8" name="Google Shape;188;p37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9" name="Google Shape;189;p37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0" name="Google Shape;190;p37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2" name="Google Shape;192;p37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3" name="Google Shape;193;p37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6" name="Google Shape;196;p37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7" name="Google Shape;197;p37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9" name="Google Shape;199;p37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4" name="Google Shape;204;p37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9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6" name="Google Shape;216;p39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39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5" name="Google Shape;225;p40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7" name="Google Shape;227;p40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8" name="Google Shape;228;p40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9" name="Google Shape;229;p40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0" name="Google Shape;230;p40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1" name="Google Shape;231;p40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2" name="Google Shape;232;p40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6" name="Google Shape;246;p43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8" name="Google Shape;248;p43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58" name="Google Shape;258;p4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9" name="Google Shape;25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3" name="Google Shape;263;p46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3" name="Google Shape;273;p47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4" name="Google Shape;274;p4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7" name="Google Shape;277;p48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8" name="Google Shape;278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2" name="Google Shape;282;p4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7" name="Google Shape;287;p5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8" name="Google Shape;288;p5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9" name="Google Shape;28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4" name="Google Shape;294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7" name="Google Shape;297;p52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8" name="Google Shape;298;p52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0" name="Google Shape;300;p52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1" name="Google Shape;301;p52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52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52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" name="Google Shape;305;p52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6" name="Google Shape;306;p52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7" name="Google Shape;307;p52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9" name="Google Shape;309;p52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10" name="Google Shape;310;p52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52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52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52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4" name="Google Shape;314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3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18" name="Google Shape;318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5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22" name="Google Shape;32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6" name="Google Shape;326;p55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7" name="Google Shape;327;p55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8" name="Google Shape;328;p55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9" name="Google Shape;329;p5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" name="Google Shape;330;p5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1" name="Google Shape;331;p5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3" name="Google Shape;333;p5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4" name="Google Shape;334;p5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5" name="Google Shape;335;p55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6" name="Google Shape;336;p55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7" name="Google Shape;337;p55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8" name="Google Shape;338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56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56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5" name="Google Shape;345;p56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6" name="Google Shape;346;p56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56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49" name="Google Shape;349;p56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50" name="Google Shape;350;p56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4" name="Google Shape;354;p56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5" name="Google Shape;355;p56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6" name="Google Shape;356;p56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7" name="Google Shape;357;p56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8" name="Google Shape;35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1" name="Google Shape;361;p57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2" name="Google Shape;362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66" name="Google Shape;366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example.com" TargetMode="External"/><Relationship Id="rId4" Type="http://schemas.openxmlformats.org/officeDocument/2006/relationships/hyperlink" Target="http://google.com" TargetMode="External"/><Relationship Id="rId5" Type="http://schemas.openxmlformats.org/officeDocument/2006/relationships/hyperlink" Target="http://facebook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google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/>
          <p:nvPr>
            <p:ph type="title"/>
          </p:nvPr>
        </p:nvSpPr>
        <p:spPr>
          <a:xfrm>
            <a:off x="632850" y="1988400"/>
            <a:ext cx="7878300" cy="11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Internet &amp; WEB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5725" y="359225"/>
            <a:ext cx="4452551" cy="27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60"/>
          <p:cNvSpPr txBox="1"/>
          <p:nvPr/>
        </p:nvSpPr>
        <p:spPr>
          <a:xfrm>
            <a:off x="3787950" y="3541075"/>
            <a:ext cx="1568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21212"/>
                </a:solidFill>
                <a:latin typeface="Barlow Light"/>
                <a:ea typeface="Barlow Light"/>
                <a:cs typeface="Barlow Light"/>
                <a:sym typeface="Barlow Light"/>
              </a:rPr>
              <a:t>ARPANET - 1969</a:t>
            </a:r>
            <a:endParaRPr sz="1500">
              <a:solidFill>
                <a:srgbClr val="12121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1"/>
          <p:cNvSpPr txBox="1"/>
          <p:nvPr>
            <p:ph type="title"/>
          </p:nvPr>
        </p:nvSpPr>
        <p:spPr>
          <a:xfrm>
            <a:off x="632850" y="1988400"/>
            <a:ext cx="7878300" cy="11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TCP / IP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2"/>
          <p:cNvSpPr txBox="1"/>
          <p:nvPr>
            <p:ph type="title"/>
          </p:nvPr>
        </p:nvSpPr>
        <p:spPr>
          <a:xfrm>
            <a:off x="707950" y="65700"/>
            <a:ext cx="7878300" cy="9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IP: #.#.#.#</a:t>
            </a:r>
            <a:endParaRPr/>
          </a:p>
        </p:txBody>
      </p:sp>
      <p:pic>
        <p:nvPicPr>
          <p:cNvPr id="388" name="Google Shape;388;p62" title="IP protoc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2738" y="1147300"/>
            <a:ext cx="7268733" cy="37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3"/>
          <p:cNvSpPr txBox="1"/>
          <p:nvPr>
            <p:ph type="title"/>
          </p:nvPr>
        </p:nvSpPr>
        <p:spPr>
          <a:xfrm>
            <a:off x="707950" y="65700"/>
            <a:ext cx="7878300" cy="9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TCP Segment</a:t>
            </a:r>
            <a:endParaRPr/>
          </a:p>
        </p:txBody>
      </p:sp>
      <p:pic>
        <p:nvPicPr>
          <p:cNvPr id="394" name="Google Shape;394;p63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125" y="1315375"/>
            <a:ext cx="6661774" cy="36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4"/>
          <p:cNvSpPr txBox="1"/>
          <p:nvPr>
            <p:ph type="title"/>
          </p:nvPr>
        </p:nvSpPr>
        <p:spPr>
          <a:xfrm>
            <a:off x="707950" y="65700"/>
            <a:ext cx="7878300" cy="9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Data Flow</a:t>
            </a:r>
            <a:endParaRPr/>
          </a:p>
        </p:txBody>
      </p:sp>
      <p:sp>
        <p:nvSpPr>
          <p:cNvPr id="400" name="Google Shape;400;p64"/>
          <p:cNvSpPr/>
          <p:nvPr/>
        </p:nvSpPr>
        <p:spPr>
          <a:xfrm>
            <a:off x="457200" y="1051200"/>
            <a:ext cx="25224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Application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1" name="Google Shape;401;p64"/>
          <p:cNvSpPr/>
          <p:nvPr/>
        </p:nvSpPr>
        <p:spPr>
          <a:xfrm>
            <a:off x="457200" y="1946150"/>
            <a:ext cx="25224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Transport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2" name="Google Shape;402;p64"/>
          <p:cNvSpPr/>
          <p:nvPr/>
        </p:nvSpPr>
        <p:spPr>
          <a:xfrm>
            <a:off x="457200" y="2841100"/>
            <a:ext cx="25224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Network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3" name="Google Shape;403;p64"/>
          <p:cNvSpPr/>
          <p:nvPr/>
        </p:nvSpPr>
        <p:spPr>
          <a:xfrm>
            <a:off x="457200" y="3736050"/>
            <a:ext cx="25224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Link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4" name="Google Shape;404;p64"/>
          <p:cNvSpPr/>
          <p:nvPr/>
        </p:nvSpPr>
        <p:spPr>
          <a:xfrm>
            <a:off x="6164399" y="1051200"/>
            <a:ext cx="25224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Application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5" name="Google Shape;405;p64"/>
          <p:cNvSpPr/>
          <p:nvPr/>
        </p:nvSpPr>
        <p:spPr>
          <a:xfrm>
            <a:off x="6164399" y="1946150"/>
            <a:ext cx="25224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Transport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6" name="Google Shape;406;p64"/>
          <p:cNvSpPr/>
          <p:nvPr/>
        </p:nvSpPr>
        <p:spPr>
          <a:xfrm>
            <a:off x="6164399" y="2841100"/>
            <a:ext cx="25224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Network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7" name="Google Shape;407;p64"/>
          <p:cNvSpPr/>
          <p:nvPr/>
        </p:nvSpPr>
        <p:spPr>
          <a:xfrm>
            <a:off x="6164399" y="3736050"/>
            <a:ext cx="25224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Light"/>
                <a:ea typeface="Barlow Light"/>
                <a:cs typeface="Barlow Light"/>
                <a:sym typeface="Barlow Light"/>
              </a:rPr>
              <a:t>Link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8" name="Google Shape;408;p64"/>
          <p:cNvSpPr/>
          <p:nvPr/>
        </p:nvSpPr>
        <p:spPr>
          <a:xfrm>
            <a:off x="1567150" y="1623500"/>
            <a:ext cx="180300" cy="323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9" name="Google Shape;409;p64"/>
          <p:cNvSpPr/>
          <p:nvPr/>
        </p:nvSpPr>
        <p:spPr>
          <a:xfrm>
            <a:off x="1567150" y="2518900"/>
            <a:ext cx="180300" cy="323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0" name="Google Shape;410;p64"/>
          <p:cNvSpPr/>
          <p:nvPr/>
        </p:nvSpPr>
        <p:spPr>
          <a:xfrm>
            <a:off x="1567150" y="3414800"/>
            <a:ext cx="180300" cy="323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1" name="Google Shape;411;p64"/>
          <p:cNvSpPr/>
          <p:nvPr/>
        </p:nvSpPr>
        <p:spPr>
          <a:xfrm rot="10800000">
            <a:off x="7335450" y="3413800"/>
            <a:ext cx="180300" cy="323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2" name="Google Shape;412;p64"/>
          <p:cNvSpPr/>
          <p:nvPr/>
        </p:nvSpPr>
        <p:spPr>
          <a:xfrm rot="10800000">
            <a:off x="7335450" y="2518425"/>
            <a:ext cx="180300" cy="323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3" name="Google Shape;413;p64"/>
          <p:cNvSpPr/>
          <p:nvPr/>
        </p:nvSpPr>
        <p:spPr>
          <a:xfrm rot="10800000">
            <a:off x="7335450" y="1623050"/>
            <a:ext cx="180300" cy="323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4" name="Google Shape;414;p64"/>
          <p:cNvSpPr/>
          <p:nvPr/>
        </p:nvSpPr>
        <p:spPr>
          <a:xfrm flipH="1" rot="10800000">
            <a:off x="1615700" y="4308300"/>
            <a:ext cx="5993400" cy="572700"/>
          </a:xfrm>
          <a:prstGeom prst="uturnArrow">
            <a:avLst>
              <a:gd fmla="val 15959" name="adj1"/>
              <a:gd fmla="val 25000" name="adj2"/>
              <a:gd fmla="val 25000" name="adj3"/>
              <a:gd fmla="val 43750" name="adj4"/>
              <a:gd fmla="val 100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5" name="Google Shape;415;p64"/>
          <p:cNvSpPr txBox="1"/>
          <p:nvPr/>
        </p:nvSpPr>
        <p:spPr>
          <a:xfrm>
            <a:off x="2979600" y="1193800"/>
            <a:ext cx="318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HTTP, SMTP, FTP, DNS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6" name="Google Shape;416;p64"/>
          <p:cNvSpPr txBox="1"/>
          <p:nvPr/>
        </p:nvSpPr>
        <p:spPr>
          <a:xfrm>
            <a:off x="2979600" y="2070950"/>
            <a:ext cx="318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TCP Segmentation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7" name="Google Shape;417;p64"/>
          <p:cNvSpPr txBox="1"/>
          <p:nvPr/>
        </p:nvSpPr>
        <p:spPr>
          <a:xfrm>
            <a:off x="2979600" y="2965900"/>
            <a:ext cx="318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IP Packets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8" name="Google Shape;418;p64"/>
          <p:cNvSpPr txBox="1"/>
          <p:nvPr/>
        </p:nvSpPr>
        <p:spPr>
          <a:xfrm>
            <a:off x="2979600" y="3860850"/>
            <a:ext cx="318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Frames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5"/>
          <p:cNvSpPr txBox="1"/>
          <p:nvPr>
            <p:ph type="title"/>
          </p:nvPr>
        </p:nvSpPr>
        <p:spPr>
          <a:xfrm>
            <a:off x="457200" y="159075"/>
            <a:ext cx="82296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600"/>
              <a:t>DNS (Domain Name System)</a:t>
            </a:r>
            <a:endParaRPr sz="3600"/>
          </a:p>
        </p:txBody>
      </p:sp>
      <p:graphicFrame>
        <p:nvGraphicFramePr>
          <p:cNvPr id="424" name="Google Shape;424;p65"/>
          <p:cNvGraphicFramePr/>
          <p:nvPr/>
        </p:nvGraphicFramePr>
        <p:xfrm>
          <a:off x="918750" y="130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{CABDF0C9-F4E7-4DCB-8911-530FE136E97B}</a:tableStyleId>
              </a:tblPr>
              <a:tblGrid>
                <a:gridCol w="3636375"/>
                <a:gridCol w="3636375"/>
              </a:tblGrid>
              <a:tr h="37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Domain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52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example.com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4"/>
                        </a:rPr>
                        <a:t>google.com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5"/>
                        </a:rPr>
                        <a:t>facebook.com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104.18.27.120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142.250.75.110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157.240.234.35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6"/>
          <p:cNvSpPr txBox="1"/>
          <p:nvPr>
            <p:ph type="title"/>
          </p:nvPr>
        </p:nvSpPr>
        <p:spPr>
          <a:xfrm>
            <a:off x="457200" y="2210850"/>
            <a:ext cx="82296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600"/>
              <a:t>http://www.example.com/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5338"/>
            <a:ext cx="8839199" cy="4212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8"/>
          <p:cNvSpPr txBox="1"/>
          <p:nvPr>
            <p:ph type="title"/>
          </p:nvPr>
        </p:nvSpPr>
        <p:spPr>
          <a:xfrm>
            <a:off x="457200" y="2210850"/>
            <a:ext cx="82296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600"/>
              <a:t>HTTP</a:t>
            </a:r>
            <a:endParaRPr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0"/>
          <p:cNvSpPr txBox="1"/>
          <p:nvPr>
            <p:ph type="title"/>
          </p:nvPr>
        </p:nvSpPr>
        <p:spPr>
          <a:xfrm>
            <a:off x="457200" y="1051200"/>
            <a:ext cx="82296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600"/>
              <a:t>HTTP Request</a:t>
            </a:r>
            <a:endParaRPr sz="3600"/>
          </a:p>
        </p:txBody>
      </p:sp>
      <p:sp>
        <p:nvSpPr>
          <p:cNvPr id="450" name="Google Shape;450;p70"/>
          <p:cNvSpPr txBox="1"/>
          <p:nvPr/>
        </p:nvSpPr>
        <p:spPr>
          <a:xfrm>
            <a:off x="1031875" y="1968500"/>
            <a:ext cx="5619900" cy="21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GET - We are requesting a resource from the server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POST - We are creating a resource on the server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PUT/PATCH - We are updating a resource on the server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DELETE - We are deleting a resource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1"/>
          <p:cNvSpPr txBox="1"/>
          <p:nvPr>
            <p:ph type="title"/>
          </p:nvPr>
        </p:nvSpPr>
        <p:spPr>
          <a:xfrm>
            <a:off x="457200" y="1051200"/>
            <a:ext cx="82296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600"/>
              <a:t>HTTP Response</a:t>
            </a:r>
            <a:endParaRPr sz="3600"/>
          </a:p>
        </p:txBody>
      </p:sp>
      <p:sp>
        <p:nvSpPr>
          <p:cNvPr id="456" name="Google Shape;456;p71"/>
          <p:cNvSpPr txBox="1"/>
          <p:nvPr/>
        </p:nvSpPr>
        <p:spPr>
          <a:xfrm>
            <a:off x="1031875" y="1968500"/>
            <a:ext cx="5619900" cy="21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2xx - OK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3xx - Redirect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4xx - Client Error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5xx - Server Error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2"/>
          <p:cNvSpPr txBox="1"/>
          <p:nvPr>
            <p:ph type="title"/>
          </p:nvPr>
        </p:nvSpPr>
        <p:spPr>
          <a:xfrm>
            <a:off x="457200" y="2210850"/>
            <a:ext cx="82296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600"/>
              <a:t>HTTPs</a:t>
            </a:r>
            <a:endParaRPr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3"/>
          <p:cNvSpPr txBox="1"/>
          <p:nvPr>
            <p:ph type="title"/>
          </p:nvPr>
        </p:nvSpPr>
        <p:spPr>
          <a:xfrm>
            <a:off x="457200" y="455400"/>
            <a:ext cx="82296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600"/>
              <a:t>Request-Response Lifecycle</a:t>
            </a:r>
            <a:endParaRPr sz="3600"/>
          </a:p>
        </p:txBody>
      </p:sp>
      <p:sp>
        <p:nvSpPr>
          <p:cNvPr id="467" name="Google Shape;467;p73"/>
          <p:cNvSpPr txBox="1"/>
          <p:nvPr/>
        </p:nvSpPr>
        <p:spPr>
          <a:xfrm>
            <a:off x="1074050" y="1293925"/>
            <a:ext cx="5619900" cy="21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When we type </a:t>
            </a:r>
            <a:r>
              <a:rPr lang="en" sz="15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3"/>
              </a:rPr>
              <a:t>google.com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AutoNum type="arabicPeriod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The DNS Lookup: Finding the Address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AutoNum type="arabicPeriod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The Handshake: Establishing a Connection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AutoNum type="arabicPeriod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The Request: "Can I have the page, please?"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AutoNum type="arabicPeriod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The Response: The Server Answers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AutoNum type="arabicPeriod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Rendering: Building the Visuals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4"/>
          <p:cNvSpPr txBox="1"/>
          <p:nvPr>
            <p:ph type="title"/>
          </p:nvPr>
        </p:nvSpPr>
        <p:spPr>
          <a:xfrm>
            <a:off x="457200" y="455400"/>
            <a:ext cx="82296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600"/>
              <a:t>WEB Application Structure</a:t>
            </a:r>
            <a:endParaRPr sz="3600"/>
          </a:p>
        </p:txBody>
      </p:sp>
      <p:pic>
        <p:nvPicPr>
          <p:cNvPr id="473" name="Google Shape;47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7700"/>
            <a:ext cx="9144000" cy="38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5"/>
          <p:cNvSpPr txBox="1"/>
          <p:nvPr>
            <p:ph type="title"/>
          </p:nvPr>
        </p:nvSpPr>
        <p:spPr>
          <a:xfrm>
            <a:off x="457200" y="455400"/>
            <a:ext cx="82296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600"/>
              <a:t>Visual Representation</a:t>
            </a:r>
            <a:endParaRPr sz="3600"/>
          </a:p>
        </p:txBody>
      </p:sp>
      <p:pic>
        <p:nvPicPr>
          <p:cNvPr id="479" name="Google Shape;47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7700"/>
            <a:ext cx="9143998" cy="383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6"/>
          <p:cNvSpPr txBox="1"/>
          <p:nvPr>
            <p:ph type="title"/>
          </p:nvPr>
        </p:nvSpPr>
        <p:spPr>
          <a:xfrm>
            <a:off x="457200" y="455400"/>
            <a:ext cx="82296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600"/>
              <a:t>Behaviour</a:t>
            </a:r>
            <a:endParaRPr sz="3600"/>
          </a:p>
        </p:txBody>
      </p:sp>
      <p:pic>
        <p:nvPicPr>
          <p:cNvPr id="485" name="Google Shape;48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7700"/>
            <a:ext cx="9144000" cy="383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7"/>
          <p:cNvSpPr txBox="1"/>
          <p:nvPr>
            <p:ph type="title"/>
          </p:nvPr>
        </p:nvSpPr>
        <p:spPr>
          <a:xfrm>
            <a:off x="457200" y="2210850"/>
            <a:ext cx="82296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600"/>
              <a:t>Real-life Examples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